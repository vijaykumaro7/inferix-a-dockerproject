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60A0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9144000" cy="365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5486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spc="-10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8800" dirty="0"/>
          </a:p>
        </p:txBody>
      </p:sp>
      <p:sp>
        <p:nvSpPr>
          <p:cNvPr id="6" name="Text 2"/>
          <p:cNvSpPr/>
          <p:nvPr/>
        </p:nvSpPr>
        <p:spPr>
          <a:xfrm>
            <a:off x="2971800" y="54864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spc="-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</a:t>
            </a:r>
            <a:endParaRPr lang="en-US" sz="8800" dirty="0"/>
          </a:p>
        </p:txBody>
      </p:sp>
      <p:sp>
        <p:nvSpPr>
          <p:cNvPr id="7" name="Shape 3"/>
          <p:cNvSpPr/>
          <p:nvPr/>
        </p:nvSpPr>
        <p:spPr>
          <a:xfrm>
            <a:off x="411480" y="1920240"/>
            <a:ext cx="13716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Shape 4"/>
          <p:cNvSpPr/>
          <p:nvPr/>
        </p:nvSpPr>
        <p:spPr>
          <a:xfrm>
            <a:off x="1901952" y="1920240"/>
            <a:ext cx="3017520" cy="45720"/>
          </a:xfrm>
          <a:prstGeom prst="rect">
            <a:avLst/>
          </a:prstGeom>
          <a:solidFill>
            <a:srgbClr val="1F2D3D"/>
          </a:solidFill>
          <a:ln/>
        </p:spPr>
      </p:sp>
      <p:sp>
        <p:nvSpPr>
          <p:cNvPr id="9" name="Text 5"/>
          <p:cNvSpPr/>
          <p:nvPr/>
        </p:nvSpPr>
        <p:spPr>
          <a:xfrm>
            <a:off x="411480" y="2103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ML Inference Engine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11480" y="263347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scikit-learn models. Containerize with Docker.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predictions via a production-ready Flask REST API.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3584448"/>
            <a:ext cx="896112" cy="27432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358444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1371600" y="3584448"/>
            <a:ext cx="896112" cy="27432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371600" y="358444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2331720" y="3584448"/>
            <a:ext cx="896112" cy="27432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331720" y="358444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3291840" y="3584448"/>
            <a:ext cx="896112" cy="27432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91840" y="358444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251960" y="3584448"/>
            <a:ext cx="896112" cy="27432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51960" y="358444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API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11480" y="4754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github.com/VijayKumaro7/inferix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623560" y="731520"/>
            <a:ext cx="1572768" cy="178308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623560" y="731520"/>
            <a:ext cx="1572768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0"/>
          <p:cNvSpPr/>
          <p:nvPr/>
        </p:nvSpPr>
        <p:spPr>
          <a:xfrm>
            <a:off x="5623560" y="9601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4200" dirty="0"/>
          </a:p>
        </p:txBody>
      </p:sp>
      <p:sp>
        <p:nvSpPr>
          <p:cNvPr id="25" name="Text 21"/>
          <p:cNvSpPr/>
          <p:nvPr/>
        </p:nvSpPr>
        <p:spPr>
          <a:xfrm>
            <a:off x="5623560" y="17830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Accuracy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342632" y="731520"/>
            <a:ext cx="1572768" cy="178308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342632" y="731520"/>
            <a:ext cx="1572768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4"/>
          <p:cNvSpPr/>
          <p:nvPr/>
        </p:nvSpPr>
        <p:spPr>
          <a:xfrm>
            <a:off x="7342632" y="9601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200" dirty="0"/>
          </a:p>
        </p:txBody>
      </p:sp>
      <p:sp>
        <p:nvSpPr>
          <p:cNvPr id="29" name="Text 25"/>
          <p:cNvSpPr/>
          <p:nvPr/>
        </p:nvSpPr>
        <p:spPr>
          <a:xfrm>
            <a:off x="7342632" y="17830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Accuracy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623560" y="2834640"/>
            <a:ext cx="1572768" cy="178308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623560" y="2834640"/>
            <a:ext cx="1572768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8"/>
          <p:cNvSpPr/>
          <p:nvPr/>
        </p:nvSpPr>
        <p:spPr>
          <a:xfrm>
            <a:off x="5623560" y="30632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33" name="Text 29"/>
          <p:cNvSpPr/>
          <p:nvPr/>
        </p:nvSpPr>
        <p:spPr>
          <a:xfrm>
            <a:off x="5623560" y="38862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342632" y="2834640"/>
            <a:ext cx="1572768" cy="178308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342632" y="2834640"/>
            <a:ext cx="1572768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2"/>
          <p:cNvSpPr/>
          <p:nvPr/>
        </p:nvSpPr>
        <p:spPr>
          <a:xfrm>
            <a:off x="7342632" y="30632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37" name="Text 33"/>
          <p:cNvSpPr/>
          <p:nvPr/>
        </p:nvSpPr>
        <p:spPr>
          <a:xfrm>
            <a:off x="7342632" y="38862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9144000" cy="365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INFERIX?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365760" y="713232"/>
            <a:ext cx="3886200" cy="416052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65760" y="713232"/>
            <a:ext cx="3886200" cy="50292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7589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389888"/>
            <a:ext cx="3611880" cy="749808"/>
          </a:xfrm>
          <a:prstGeom prst="rect">
            <a:avLst/>
          </a:prstGeom>
          <a:solidFill>
            <a:srgbClr val="130808"/>
          </a:solidFill>
          <a:ln w="9525">
            <a:solidFill>
              <a:srgbClr val="2D151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89888"/>
            <a:ext cx="45720" cy="749808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4538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machine"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8368" y="1783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 break across environments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276856"/>
            <a:ext cx="3611880" cy="749808"/>
          </a:xfrm>
          <a:prstGeom prst="rect">
            <a:avLst/>
          </a:prstGeom>
          <a:solidFill>
            <a:srgbClr val="130808"/>
          </a:solidFill>
          <a:ln w="9525">
            <a:solidFill>
              <a:srgbClr val="2D151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76856"/>
            <a:ext cx="45720" cy="749808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3408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interface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58368" y="26700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can't be called from apps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3163824"/>
            <a:ext cx="3611880" cy="749808"/>
          </a:xfrm>
          <a:prstGeom prst="rect">
            <a:avLst/>
          </a:prstGeom>
          <a:solidFill>
            <a:srgbClr val="130808"/>
          </a:solidFill>
          <a:ln w="9525">
            <a:solidFill>
              <a:srgbClr val="2D151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3163824"/>
            <a:ext cx="45720" cy="749808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3227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reproducible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8368" y="35570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env differs from production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4050792"/>
            <a:ext cx="3611880" cy="749808"/>
          </a:xfrm>
          <a:prstGeom prst="rect">
            <a:avLst/>
          </a:prstGeom>
          <a:solidFill>
            <a:srgbClr val="130808"/>
          </a:solidFill>
          <a:ln w="9525">
            <a:solidFill>
              <a:srgbClr val="2D151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4050792"/>
            <a:ext cx="45720" cy="749808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58368" y="44439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can't handle real traffic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92040" y="713232"/>
            <a:ext cx="3886200" cy="416052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92040" y="713232"/>
            <a:ext cx="3886200" cy="502920"/>
          </a:xfrm>
          <a:prstGeom prst="rect">
            <a:avLst/>
          </a:prstGeom>
          <a:solidFill>
            <a:srgbClr val="071A12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0" y="7589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Inferix Solves It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029200" y="1389888"/>
            <a:ext cx="3611880" cy="749808"/>
          </a:xfrm>
          <a:prstGeom prst="rect">
            <a:avLst/>
          </a:prstGeom>
          <a:solidFill>
            <a:srgbClr val="07130F"/>
          </a:solidFill>
          <a:ln w="9525">
            <a:solidFill>
              <a:srgbClr val="14332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0" y="1389888"/>
            <a:ext cx="45720" cy="74980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591056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550408" y="14538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550408" y="1783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runs everywhere, always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029200" y="2276856"/>
            <a:ext cx="3611880" cy="749808"/>
          </a:xfrm>
          <a:prstGeom prst="rect">
            <a:avLst/>
          </a:prstGeom>
          <a:solidFill>
            <a:srgbClr val="07130F"/>
          </a:solidFill>
          <a:ln w="9525">
            <a:solidFill>
              <a:srgbClr val="14332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029200" y="2276856"/>
            <a:ext cx="45720" cy="74980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478024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550408" y="2340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5550408" y="2670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endpoints, JSON in/out, any client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5029200" y="3163824"/>
            <a:ext cx="3611880" cy="749808"/>
          </a:xfrm>
          <a:prstGeom prst="rect">
            <a:avLst/>
          </a:prstGeom>
          <a:solidFill>
            <a:srgbClr val="07130F"/>
          </a:solidFill>
          <a:ln w="9525">
            <a:solidFill>
              <a:srgbClr val="14332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029200" y="3163824"/>
            <a:ext cx="45720" cy="74980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364992"/>
            <a:ext cx="292608" cy="2926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550408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5550408" y="3557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isolated from production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029200" y="4050792"/>
            <a:ext cx="3611880" cy="749808"/>
          </a:xfrm>
          <a:prstGeom prst="rect">
            <a:avLst/>
          </a:prstGeom>
          <a:solidFill>
            <a:srgbClr val="07130F"/>
          </a:solidFill>
          <a:ln w="9525">
            <a:solidFill>
              <a:srgbClr val="143322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029200" y="4050792"/>
            <a:ext cx="45720" cy="74980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4251960"/>
            <a:ext cx="292608" cy="29260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550408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5550408" y="44439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 to spin everything up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4343400" y="2560320"/>
            <a:ext cx="457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7" name="Text 40"/>
          <p:cNvSpPr/>
          <p:nvPr/>
        </p:nvSpPr>
        <p:spPr>
          <a:xfrm>
            <a:off x="4416552" y="24140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9144000" cy="365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 Architecture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9418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trains &amp; saves models. Stage 2 serves them. Zero overlap.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389888"/>
            <a:ext cx="1965960" cy="3429000"/>
          </a:xfrm>
          <a:prstGeom prst="rect">
            <a:avLst/>
          </a:prstGeom>
          <a:solidFill>
            <a:srgbClr val="0F0A1A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389888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5"/>
          <p:cNvSpPr/>
          <p:nvPr/>
        </p:nvSpPr>
        <p:spPr>
          <a:xfrm>
            <a:off x="850392" y="1554480"/>
            <a:ext cx="896112" cy="89611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636776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25603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5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291840"/>
            <a:ext cx="1691640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3419856"/>
            <a:ext cx="548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" y="3364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sklearn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3813048"/>
            <a:ext cx="548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train_model.py runs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4206240"/>
            <a:ext cx="548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3"/>
          <p:cNvSpPr/>
          <p:nvPr/>
        </p:nvSpPr>
        <p:spPr>
          <a:xfrm>
            <a:off x="594360" y="4151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saved as .pkl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286000" y="3104388"/>
            <a:ext cx="21031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350008" y="290322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2468880" y="1389888"/>
            <a:ext cx="1965960" cy="3429000"/>
          </a:xfrm>
          <a:prstGeom prst="rect">
            <a:avLst/>
          </a:prstGeom>
          <a:solidFill>
            <a:srgbClr val="141008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468880" y="1389888"/>
            <a:ext cx="196596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Shape 18"/>
          <p:cNvSpPr/>
          <p:nvPr/>
        </p:nvSpPr>
        <p:spPr>
          <a:xfrm>
            <a:off x="2999232" y="1554480"/>
            <a:ext cx="896112" cy="89611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1636776"/>
            <a:ext cx="731520" cy="7315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560320" y="25603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50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606040" y="3291840"/>
            <a:ext cx="1691640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606040" y="3419856"/>
            <a:ext cx="54864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7" name="Text 22"/>
          <p:cNvSpPr/>
          <p:nvPr/>
        </p:nvSpPr>
        <p:spPr>
          <a:xfrm>
            <a:off x="2743200" y="3364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iris_model.pkl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2606040" y="3813048"/>
            <a:ext cx="54864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4"/>
          <p:cNvSpPr/>
          <p:nvPr/>
        </p:nvSpPr>
        <p:spPr>
          <a:xfrm>
            <a:off x="2743200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cancer_model.pkl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2606040" y="4206240"/>
            <a:ext cx="54864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1" name="Text 26"/>
          <p:cNvSpPr/>
          <p:nvPr/>
        </p:nvSpPr>
        <p:spPr>
          <a:xfrm>
            <a:off x="2743200" y="4151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scaler.pkl stored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434840" y="3104388"/>
            <a:ext cx="21031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498848" y="290322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›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4617720" y="1389888"/>
            <a:ext cx="1965960" cy="3429000"/>
          </a:xfrm>
          <a:prstGeom prst="rect">
            <a:avLst/>
          </a:prstGeom>
          <a:solidFill>
            <a:srgbClr val="060E14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617720" y="1389888"/>
            <a:ext cx="196596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6" name="Shape 31"/>
          <p:cNvSpPr/>
          <p:nvPr/>
        </p:nvSpPr>
        <p:spPr>
          <a:xfrm>
            <a:off x="5148072" y="1554480"/>
            <a:ext cx="896112" cy="89611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636776"/>
            <a:ext cx="731520" cy="7315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709160" y="25603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5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4754880" y="3291840"/>
            <a:ext cx="1691640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754880" y="3419856"/>
            <a:ext cx="54864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1" name="Text 35"/>
          <p:cNvSpPr/>
          <p:nvPr/>
        </p:nvSpPr>
        <p:spPr>
          <a:xfrm>
            <a:off x="4892040" y="3364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python:3.11-slim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4754880" y="3813048"/>
            <a:ext cx="54864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3" name="Text 37"/>
          <p:cNvSpPr/>
          <p:nvPr/>
        </p:nvSpPr>
        <p:spPr>
          <a:xfrm>
            <a:off x="4892040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sklearn in image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754880" y="4206240"/>
            <a:ext cx="54864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5" name="Text 39"/>
          <p:cNvSpPr/>
          <p:nvPr/>
        </p:nvSpPr>
        <p:spPr>
          <a:xfrm>
            <a:off x="4892040" y="4151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--from=trainer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6583680" y="3104388"/>
            <a:ext cx="21031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647688" y="290322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›</a:t>
            </a:r>
            <a:endParaRPr lang="en-US" sz="1800" dirty="0"/>
          </a:p>
        </p:txBody>
      </p:sp>
      <p:sp>
        <p:nvSpPr>
          <p:cNvPr id="48" name="Shape 42"/>
          <p:cNvSpPr/>
          <p:nvPr/>
        </p:nvSpPr>
        <p:spPr>
          <a:xfrm>
            <a:off x="6766560" y="1389888"/>
            <a:ext cx="1965960" cy="3429000"/>
          </a:xfrm>
          <a:prstGeom prst="rect">
            <a:avLst/>
          </a:prstGeom>
          <a:solidFill>
            <a:srgbClr val="06130E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6766560" y="1389888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Shape 44"/>
          <p:cNvSpPr/>
          <p:nvPr/>
        </p:nvSpPr>
        <p:spPr>
          <a:xfrm>
            <a:off x="7296912" y="1554480"/>
            <a:ext cx="896112" cy="89611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1636776"/>
            <a:ext cx="731520" cy="731520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6858000" y="25603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5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LIVE</a:t>
            </a:r>
            <a:endParaRPr lang="en-US" sz="1400" dirty="0"/>
          </a:p>
        </p:txBody>
      </p:sp>
      <p:sp>
        <p:nvSpPr>
          <p:cNvPr id="53" name="Shape 46"/>
          <p:cNvSpPr/>
          <p:nvPr/>
        </p:nvSpPr>
        <p:spPr>
          <a:xfrm>
            <a:off x="6903720" y="3291840"/>
            <a:ext cx="1691640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6903720" y="3419856"/>
            <a:ext cx="548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48"/>
          <p:cNvSpPr/>
          <p:nvPr/>
        </p:nvSpPr>
        <p:spPr>
          <a:xfrm>
            <a:off x="7040880" y="3364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 alive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6903720" y="3813048"/>
            <a:ext cx="548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0"/>
          <p:cNvSpPr/>
          <p:nvPr/>
        </p:nvSpPr>
        <p:spPr>
          <a:xfrm>
            <a:off x="7040880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/predict/iris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6903720" y="4206240"/>
            <a:ext cx="548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9" name="Text 52"/>
          <p:cNvSpPr/>
          <p:nvPr/>
        </p:nvSpPr>
        <p:spPr>
          <a:xfrm>
            <a:off x="7040880" y="4151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/predict/cancer</a:t>
            </a:r>
            <a:endParaRPr lang="en-US" sz="950" dirty="0"/>
          </a:p>
        </p:txBody>
      </p:sp>
      <p:sp>
        <p:nvSpPr>
          <p:cNvPr id="60" name="Shape 53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solidFill>
            <a:srgbClr val="0E142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production image is ~60% smaller — training dependencies never reach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9144000" cy="365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classifiers. Both containerized. Both live.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0" y="1005840"/>
            <a:ext cx="0" cy="3977640"/>
          </a:xfrm>
          <a:prstGeom prst="line">
            <a:avLst/>
          </a:prstGeom>
          <a:noFill/>
          <a:ln w="12700">
            <a:solidFill>
              <a:srgbClr val="1F2D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4114800" cy="3977640"/>
          </a:xfrm>
          <a:prstGeom prst="rect">
            <a:avLst/>
          </a:prstGeom>
          <a:solidFill>
            <a:srgbClr val="050D14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4114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Shape 5"/>
          <p:cNvSpPr/>
          <p:nvPr/>
        </p:nvSpPr>
        <p:spPr>
          <a:xfrm>
            <a:off x="530352" y="1115568"/>
            <a:ext cx="804672" cy="2560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1155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3035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🌸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51560" y="15361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CLASSIFIER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74720" y="1481328"/>
            <a:ext cx="841248" cy="475488"/>
          </a:xfrm>
          <a:prstGeom prst="rect">
            <a:avLst/>
          </a:prstGeom>
          <a:solidFill>
            <a:srgbClr val="0E142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148132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30352" y="2103120"/>
            <a:ext cx="3785616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212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48840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2560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148840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29077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148840" y="2907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samples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32552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148840" y="32552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samples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36027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148840" y="36027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measurements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39502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148840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30352" y="4407408"/>
            <a:ext cx="3785616" cy="438912"/>
          </a:xfrm>
          <a:prstGeom prst="rect">
            <a:avLst/>
          </a:prstGeom>
          <a:solidFill>
            <a:srgbClr val="0E142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" y="440740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→  setosa / versicolor / virginica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54880" y="1005840"/>
            <a:ext cx="4114800" cy="3977640"/>
          </a:xfrm>
          <a:prstGeom prst="rect">
            <a:avLst/>
          </a:prstGeom>
          <a:solidFill>
            <a:srgbClr val="0A0514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1005840"/>
            <a:ext cx="4114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8"/>
          <p:cNvSpPr/>
          <p:nvPr/>
        </p:nvSpPr>
        <p:spPr>
          <a:xfrm>
            <a:off x="4919472" y="1115568"/>
            <a:ext cx="804672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29"/>
          <p:cNvSpPr/>
          <p:nvPr/>
        </p:nvSpPr>
        <p:spPr>
          <a:xfrm>
            <a:off x="4919472" y="11155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C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02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919472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5440680" y="15361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CLASSIFIER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863840" y="1481328"/>
            <a:ext cx="841248" cy="475488"/>
          </a:xfrm>
          <a:prstGeom prst="rect">
            <a:avLst/>
          </a:prstGeom>
          <a:solidFill>
            <a:srgbClr val="0E142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63840" y="148132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4919472" y="2103120"/>
            <a:ext cx="3785616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37760" y="2212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537960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937760" y="2560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537960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937760" y="29077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537960" y="2907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455 samples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937760" y="32552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537960" y="32552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samples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937760" y="36027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537960" y="36027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cell nuclei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937760" y="39502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537960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(binary)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919472" y="4407408"/>
            <a:ext cx="3785616" cy="438912"/>
          </a:xfrm>
          <a:prstGeom prst="rect">
            <a:avLst/>
          </a:prstGeom>
          <a:solidFill>
            <a:srgbClr val="0E1420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10912" y="4407408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→  malignant / benign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9144000" cy="365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API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Endpoints. JSON in. JSON out.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4663440" cy="84124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05840"/>
            <a:ext cx="45720" cy="8412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4"/>
          <p:cNvSpPr/>
          <p:nvPr/>
        </p:nvSpPr>
        <p:spPr>
          <a:xfrm>
            <a:off x="530352" y="1188720"/>
            <a:ext cx="502920" cy="237744"/>
          </a:xfrm>
          <a:prstGeom prst="rect">
            <a:avLst/>
          </a:prstGeom>
          <a:solidFill>
            <a:srgbClr val="0A1A0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11887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5568" y="1133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5568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status, models loaded, uptime timestamp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011680"/>
            <a:ext cx="4663440" cy="84124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011680"/>
            <a:ext cx="45720" cy="8412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0"/>
          <p:cNvSpPr/>
          <p:nvPr/>
        </p:nvSpPr>
        <p:spPr>
          <a:xfrm>
            <a:off x="530352" y="2194560"/>
            <a:ext cx="502920" cy="237744"/>
          </a:xfrm>
          <a:prstGeom prst="rect">
            <a:avLst/>
          </a:prstGeom>
          <a:solidFill>
            <a:srgbClr val="0A1A0A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21945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15568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5568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loaded models with accuracy scores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017520"/>
            <a:ext cx="4663440" cy="84124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017520"/>
            <a:ext cx="45720" cy="8412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Shape 16"/>
          <p:cNvSpPr/>
          <p:nvPr/>
        </p:nvSpPr>
        <p:spPr>
          <a:xfrm>
            <a:off x="530352" y="3200400"/>
            <a:ext cx="502920" cy="237744"/>
          </a:xfrm>
          <a:prstGeom prst="rect">
            <a:avLst/>
          </a:prstGeom>
          <a:solidFill>
            <a:srgbClr val="0A1A0A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32004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15568" y="31455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/predict/iris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15568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 floats → get species + confidence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4023360"/>
            <a:ext cx="4663440" cy="84124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4023360"/>
            <a:ext cx="45720" cy="8412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hape 22"/>
          <p:cNvSpPr/>
          <p:nvPr/>
        </p:nvSpPr>
        <p:spPr>
          <a:xfrm>
            <a:off x="530352" y="4206240"/>
            <a:ext cx="502920" cy="237744"/>
          </a:xfrm>
          <a:prstGeom prst="rect">
            <a:avLst/>
          </a:prstGeom>
          <a:solidFill>
            <a:srgbClr val="0A1A0A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0352" y="42062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15568" y="41513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/predict/cancer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5568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30 cell features → malignant or benign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212080" y="1005840"/>
            <a:ext cx="3657600" cy="4005072"/>
          </a:xfrm>
          <a:prstGeom prst="rect">
            <a:avLst/>
          </a:prstGeom>
          <a:solidFill>
            <a:srgbClr val="05081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212080" y="1005840"/>
            <a:ext cx="3657600" cy="347472"/>
          </a:xfrm>
          <a:prstGeom prst="rect">
            <a:avLst/>
          </a:prstGeom>
          <a:solidFill>
            <a:srgbClr val="0C1117"/>
          </a:solidFill>
          <a:ln/>
        </p:spPr>
      </p:sp>
      <p:sp>
        <p:nvSpPr>
          <p:cNvPr id="31" name="Shape 28"/>
          <p:cNvSpPr/>
          <p:nvPr/>
        </p:nvSpPr>
        <p:spPr>
          <a:xfrm>
            <a:off x="5349240" y="11155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2" name="Shape 29"/>
          <p:cNvSpPr/>
          <p:nvPr/>
        </p:nvSpPr>
        <p:spPr>
          <a:xfrm>
            <a:off x="5586984" y="11155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3" name="Shape 30"/>
          <p:cNvSpPr/>
          <p:nvPr/>
        </p:nvSpPr>
        <p:spPr>
          <a:xfrm>
            <a:off x="5824728" y="11155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4" name="Text 31"/>
          <p:cNvSpPr/>
          <p:nvPr/>
        </p:nvSpPr>
        <p:spPr>
          <a:xfrm>
            <a:off x="6035040" y="10607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inferix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21808" y="14264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\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321808" y="16642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localhost:5000/predict/iris \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321808" y="19019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'{"features":[5.1,3.5,1.4,0.2]}'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321808" y="21396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321808" y="23774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Response: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321808" y="26151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321808" y="28529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"class_name": "setosa",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321808" y="30906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99.1,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321808" y="33284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"prediction": 0,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321808" y="35661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"probabilities": {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5321808" y="3803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"setosa": 99.1,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5321808" y="40416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"versicolor": 0.6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21808" y="42793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321808" y="45171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9144000" cy="365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layer. Every tool. Purpose-built.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24128"/>
            <a:ext cx="1993392" cy="391363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24128"/>
            <a:ext cx="1993392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133856"/>
            <a:ext cx="896112" cy="896112"/>
          </a:xfrm>
          <a:prstGeom prst="rect">
            <a:avLst/>
          </a:prstGeom>
          <a:solidFill>
            <a:srgbClr val="080C10"/>
          </a:solidFill>
          <a:ln w="9525">
            <a:solidFill>
              <a:srgbClr val="1F2D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207008"/>
            <a:ext cx="749808" cy="7498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1214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4632" y="2505456"/>
            <a:ext cx="1664208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21208" y="272491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1208" y="272491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27+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21208" y="327355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21208" y="32735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21208" y="382219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1208" y="38221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Multi-stage build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21208" y="437083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1208" y="437083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.dockerignore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468880" y="1024128"/>
            <a:ext cx="1993392" cy="391363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468880" y="1024128"/>
            <a:ext cx="199339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7"/>
          <p:cNvSpPr/>
          <p:nvPr/>
        </p:nvSpPr>
        <p:spPr>
          <a:xfrm>
            <a:off x="3017520" y="1133856"/>
            <a:ext cx="896112" cy="896112"/>
          </a:xfrm>
          <a:prstGeom prst="rect">
            <a:avLst/>
          </a:prstGeom>
          <a:solidFill>
            <a:srgbClr val="080C10"/>
          </a:solidFill>
          <a:ln w="9525">
            <a:solidFill>
              <a:srgbClr val="1F2D3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1207008"/>
            <a:ext cx="749808" cy="7498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468880" y="21214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633472" y="2505456"/>
            <a:ext cx="1664208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670048" y="272491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670048" y="272491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3.0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670048" y="327355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670048" y="32735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/ JSON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670048" y="382219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670048" y="38221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checks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670048" y="437083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670048" y="437083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 ready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617720" y="1024128"/>
            <a:ext cx="1993392" cy="391363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617720" y="1024128"/>
            <a:ext cx="1993392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Shape 30"/>
          <p:cNvSpPr/>
          <p:nvPr/>
        </p:nvSpPr>
        <p:spPr>
          <a:xfrm>
            <a:off x="5166360" y="1133856"/>
            <a:ext cx="896112" cy="896112"/>
          </a:xfrm>
          <a:prstGeom prst="rect">
            <a:avLst/>
          </a:prstGeom>
          <a:solidFill>
            <a:srgbClr val="080C10"/>
          </a:solidFill>
          <a:ln w="9525">
            <a:solidFill>
              <a:srgbClr val="1F2D3D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1207008"/>
            <a:ext cx="749808" cy="7498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617720" y="21214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ENGINE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782312" y="2505456"/>
            <a:ext cx="1664208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818888" y="272491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18888" y="272491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 1.5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818888" y="327355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818888" y="32735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4818888" y="382219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818888" y="38221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818888" y="437083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818888" y="437083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 (.pkl)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766560" y="1024128"/>
            <a:ext cx="1993392" cy="391363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6766560" y="1024128"/>
            <a:ext cx="199339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9" name="Shape 43"/>
          <p:cNvSpPr/>
          <p:nvPr/>
        </p:nvSpPr>
        <p:spPr>
          <a:xfrm>
            <a:off x="7315200" y="1133856"/>
            <a:ext cx="896112" cy="896112"/>
          </a:xfrm>
          <a:prstGeom prst="rect">
            <a:avLst/>
          </a:prstGeom>
          <a:solidFill>
            <a:srgbClr val="080C10"/>
          </a:solidFill>
          <a:ln w="9525">
            <a:solidFill>
              <a:srgbClr val="1F2D3D"/>
            </a:solidFill>
            <a:prstDash val="solid"/>
          </a:ln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1207008"/>
            <a:ext cx="749808" cy="74980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6766560" y="21214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6931152" y="2505456"/>
            <a:ext cx="1664208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967728" y="272491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6967728" y="272491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3.11-slim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6967728" y="327355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6967728" y="32735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 1.26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6967728" y="382219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6967728" y="38221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Gunicorn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6967728" y="4370832"/>
            <a:ext cx="1591056" cy="347472"/>
          </a:xfrm>
          <a:prstGeom prst="rect">
            <a:avLst/>
          </a:prstGeom>
          <a:solidFill>
            <a:srgbClr val="080C10"/>
          </a:solidFill>
          <a:ln w="6350">
            <a:solidFill>
              <a:srgbClr val="1F2D3D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967728" y="437083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Lean base image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9144000" cy="365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Inferix by the numbers.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1993392" cy="182880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1993392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097280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0040" y="190195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1536192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51460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 · 100 trees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96312" y="1005840"/>
            <a:ext cx="1993392" cy="182880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96312" y="1005840"/>
            <a:ext cx="1993392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2496312" y="1097280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2496312" y="190195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24912" y="2450592"/>
            <a:ext cx="1536192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96312" y="251460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Boosting · 100 trees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72584" y="1005840"/>
            <a:ext cx="1993392" cy="182880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72584" y="1005840"/>
            <a:ext cx="1993392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4672584" y="1097280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4672584" y="190195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01184" y="2450592"/>
            <a:ext cx="1536192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72584" y="251460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Multi-stage vs naive build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848856" y="1005840"/>
            <a:ext cx="1993392" cy="1828800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848856" y="1005840"/>
            <a:ext cx="199339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2"/>
          <p:cNvSpPr/>
          <p:nvPr/>
        </p:nvSpPr>
        <p:spPr>
          <a:xfrm>
            <a:off x="6848856" y="1097280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6848856" y="190195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077456" y="2450592"/>
            <a:ext cx="1536192" cy="0"/>
          </a:xfrm>
          <a:prstGeom prst="line">
            <a:avLst/>
          </a:prstGeom>
          <a:noFill/>
          <a:ln w="6350">
            <a:solidFill>
              <a:srgbClr val="1F2D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48856" y="251460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prediction request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2971800"/>
            <a:ext cx="8503920" cy="193852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ACCURACY COMPARISON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02920" y="3401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(Random Forest)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017520" y="3474720"/>
            <a:ext cx="6400800" cy="219456"/>
          </a:xfrm>
          <a:prstGeom prst="rect">
            <a:avLst/>
          </a:prstGeom>
          <a:solidFill>
            <a:srgbClr val="080C10"/>
          </a:solidFill>
          <a:ln/>
        </p:spPr>
      </p:sp>
      <p:sp>
        <p:nvSpPr>
          <p:cNvPr id="33" name="Shape 30"/>
          <p:cNvSpPr/>
          <p:nvPr/>
        </p:nvSpPr>
        <p:spPr>
          <a:xfrm>
            <a:off x="3017520" y="3474720"/>
            <a:ext cx="6208776" cy="21945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4" name="Text 31"/>
          <p:cNvSpPr/>
          <p:nvPr/>
        </p:nvSpPr>
        <p:spPr>
          <a:xfrm>
            <a:off x="9299448" y="34015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2920" y="3904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(Gradient Boosting)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017520" y="3977640"/>
            <a:ext cx="6400800" cy="219456"/>
          </a:xfrm>
          <a:prstGeom prst="rect">
            <a:avLst/>
          </a:prstGeom>
          <a:solidFill>
            <a:srgbClr val="080C10"/>
          </a:solidFill>
          <a:ln/>
        </p:spPr>
      </p:sp>
      <p:sp>
        <p:nvSpPr>
          <p:cNvPr id="37" name="Shape 34"/>
          <p:cNvSpPr/>
          <p:nvPr/>
        </p:nvSpPr>
        <p:spPr>
          <a:xfrm>
            <a:off x="3017520" y="3977640"/>
            <a:ext cx="6144768" cy="21945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5"/>
          <p:cNvSpPr/>
          <p:nvPr/>
        </p:nvSpPr>
        <p:spPr>
          <a:xfrm>
            <a:off x="9235440" y="39044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2920" y="44074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 (classification)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017520" y="4480560"/>
            <a:ext cx="6400800" cy="219456"/>
          </a:xfrm>
          <a:prstGeom prst="rect">
            <a:avLst/>
          </a:prstGeom>
          <a:solidFill>
            <a:srgbClr val="080C10"/>
          </a:solidFill>
          <a:ln/>
        </p:spPr>
      </p:sp>
      <p:sp>
        <p:nvSpPr>
          <p:cNvPr id="41" name="Shape 38"/>
          <p:cNvSpPr/>
          <p:nvPr/>
        </p:nvSpPr>
        <p:spPr>
          <a:xfrm>
            <a:off x="3017520" y="4480560"/>
            <a:ext cx="5440680" cy="21945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2" name="Text 39"/>
          <p:cNvSpPr/>
          <p:nvPr/>
        </p:nvSpPr>
        <p:spPr>
          <a:xfrm>
            <a:off x="8531352" y="44074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9144000" cy="365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 IMPACT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a recruiter.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5029200" cy="84124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24128"/>
            <a:ext cx="45720" cy="841248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5296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111556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ship models to production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024128" y="149961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Jupyter notebooks — real deployment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2011680"/>
            <a:ext cx="5029200" cy="84124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2011680"/>
            <a:ext cx="45720" cy="841248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12848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210312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ML lifecycle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024128" y="248716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→ serialization → serving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65760" y="2999232"/>
            <a:ext cx="5029200" cy="84124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65760" y="2999232"/>
            <a:ext cx="45720" cy="841248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309067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real APIs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024128" y="3474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REST, JSON schema, proper endpoints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65760" y="3986784"/>
            <a:ext cx="5029200" cy="84124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65760" y="3986784"/>
            <a:ext cx="45720" cy="841248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8795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24128" y="407822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fundamentals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024128" y="44622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builds, Compose, health checks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669280" y="502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 UNLOCKED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669280" y="960120"/>
            <a:ext cx="1426464" cy="804672"/>
          </a:xfrm>
          <a:prstGeom prst="rect">
            <a:avLst/>
          </a:prstGeom>
          <a:solidFill>
            <a:srgbClr val="080C10"/>
          </a:solidFill>
          <a:ln w="12700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669280" y="960120"/>
            <a:ext cx="142646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1"/>
          <p:cNvSpPr/>
          <p:nvPr/>
        </p:nvSpPr>
        <p:spPr>
          <a:xfrm>
            <a:off x="5669280" y="116128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242048" y="960120"/>
            <a:ext cx="1426464" cy="804672"/>
          </a:xfrm>
          <a:prstGeom prst="rect">
            <a:avLst/>
          </a:prstGeom>
          <a:solidFill>
            <a:srgbClr val="080C10"/>
          </a:solidFill>
          <a:ln w="12700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242048" y="960120"/>
            <a:ext cx="142646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4"/>
          <p:cNvSpPr/>
          <p:nvPr/>
        </p:nvSpPr>
        <p:spPr>
          <a:xfrm>
            <a:off x="7242048" y="116128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API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669280" y="2011680"/>
            <a:ext cx="1426464" cy="804672"/>
          </a:xfrm>
          <a:prstGeom prst="rect">
            <a:avLst/>
          </a:prstGeom>
          <a:solidFill>
            <a:srgbClr val="080C10"/>
          </a:solidFill>
          <a:ln w="12700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669280" y="2011680"/>
            <a:ext cx="142646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0" y="221284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Multi-stage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242048" y="2011680"/>
            <a:ext cx="1426464" cy="804672"/>
          </a:xfrm>
          <a:prstGeom prst="rect">
            <a:avLst/>
          </a:prstGeom>
          <a:solidFill>
            <a:srgbClr val="080C10"/>
          </a:solidFill>
          <a:ln w="12700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242048" y="2011680"/>
            <a:ext cx="1426464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0"/>
          <p:cNvSpPr/>
          <p:nvPr/>
        </p:nvSpPr>
        <p:spPr>
          <a:xfrm>
            <a:off x="7242048" y="221284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Deployment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669280" y="3063240"/>
            <a:ext cx="1426464" cy="804672"/>
          </a:xfrm>
          <a:prstGeom prst="rect">
            <a:avLst/>
          </a:prstGeom>
          <a:solidFill>
            <a:srgbClr val="080C10"/>
          </a:solidFill>
          <a:ln w="12700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5669280" y="3063240"/>
            <a:ext cx="1426464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0" name="Text 33"/>
          <p:cNvSpPr/>
          <p:nvPr/>
        </p:nvSpPr>
        <p:spPr>
          <a:xfrm>
            <a:off x="5669280" y="32644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Design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7242048" y="3063240"/>
            <a:ext cx="1426464" cy="804672"/>
          </a:xfrm>
          <a:prstGeom prst="rect">
            <a:avLst/>
          </a:prstGeom>
          <a:solidFill>
            <a:srgbClr val="080C10"/>
          </a:solidFill>
          <a:ln w="12700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7242048" y="3063240"/>
            <a:ext cx="1426464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Text 36"/>
          <p:cNvSpPr/>
          <p:nvPr/>
        </p:nvSpPr>
        <p:spPr>
          <a:xfrm>
            <a:off x="7242048" y="32644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5669280" y="4114800"/>
            <a:ext cx="1426464" cy="804672"/>
          </a:xfrm>
          <a:prstGeom prst="rect">
            <a:avLst/>
          </a:prstGeom>
          <a:solidFill>
            <a:srgbClr val="080C10"/>
          </a:solidFill>
          <a:ln w="12700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5669280" y="4114800"/>
            <a:ext cx="1426464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39"/>
          <p:cNvSpPr/>
          <p:nvPr/>
        </p:nvSpPr>
        <p:spPr>
          <a:xfrm>
            <a:off x="5669280" y="431596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Pickle / pkl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7242048" y="4114800"/>
            <a:ext cx="1426464" cy="804672"/>
          </a:xfrm>
          <a:prstGeom prst="rect">
            <a:avLst/>
          </a:prstGeom>
          <a:solidFill>
            <a:srgbClr val="080C10"/>
          </a:solidFill>
          <a:ln w="12700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7242048" y="4114800"/>
            <a:ext cx="1426464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9" name="Text 42"/>
          <p:cNvSpPr/>
          <p:nvPr/>
        </p:nvSpPr>
        <p:spPr>
          <a:xfrm>
            <a:off x="7242048" y="431596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9144000" cy="365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Clean. Modular. Production-ready.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4114800" cy="3913632"/>
          </a:xfrm>
          <a:prstGeom prst="rect">
            <a:avLst/>
          </a:prstGeom>
          <a:solidFill>
            <a:srgbClr val="05081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solidFill>
            <a:srgbClr val="0C1117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11155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740664" y="11155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978408" y="11155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10607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inferix/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426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inferix/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7512" y="1728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Dockerfile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7512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docker-compose.yml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7512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.dockerignore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67512" y="2935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2104" y="3236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train.py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7512" y="3538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2104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main.py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7512" y="4142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templates/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2104" y="4443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index.html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1005840"/>
            <a:ext cx="4114800" cy="117043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09160" y="1005840"/>
            <a:ext cx="45720" cy="1170432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53312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21808" y="1097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321808" y="142646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definition. Stage 1: trainer installs sklearn and runs train.py. Stage 2: production server copies only .pkl files and source code.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709160" y="2331720"/>
            <a:ext cx="4114800" cy="117043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709160" y="2331720"/>
            <a:ext cx="45720" cy="1170432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679192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321808" y="2423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app/main.py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5321808" y="275234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server. Loads models on startup, exposes /predict/iris and /predict/cancer endpoints. Health check at /health.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09160" y="3657600"/>
            <a:ext cx="4114800" cy="1170432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09160" y="3657600"/>
            <a:ext cx="45720" cy="117043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4005072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321808" y="37490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models/train.py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321808" y="407822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RandomForestClassifier on Iris and GradientBoostingClassifier on Cancer dataset. Saves serialized models to /app/models/.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"/>
            <a:ext cx="9144000" cy="3657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1496"/>
            <a:ext cx="9144000" cy="36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457200" y="8046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run.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1417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645920" y="2240280"/>
            <a:ext cx="5852160" cy="749808"/>
          </a:xfrm>
          <a:prstGeom prst="rect">
            <a:avLst/>
          </a:prstGeom>
          <a:solidFill>
            <a:srgbClr val="050810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4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645920" y="224028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docker-compose up --build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645920" y="31272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open  →  http://localhost:5000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188720" y="3703320"/>
            <a:ext cx="2148840" cy="120700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7947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315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Ready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188720" y="46177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image, zero config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611880" y="3703320"/>
            <a:ext cx="2148840" cy="120700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79476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11880" y="4315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ML Models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3611880" y="46177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+ 96% accuracy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035040" y="3703320"/>
            <a:ext cx="2148840" cy="1207008"/>
          </a:xfrm>
          <a:prstGeom prst="rect">
            <a:avLst/>
          </a:prstGeom>
          <a:solidFill>
            <a:srgbClr val="0E1420"/>
          </a:solidFill>
          <a:ln w="9525">
            <a:solidFill>
              <a:srgbClr val="1F2D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79476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35040" y="43159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REST API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035040" y="46177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endpoints, JSON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INFERIX  ·  github.com/VijayKumaro7/inferix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Inferix — Dockerized ML Inference Engine</dc:title>
  <dc:subject>PptxGenJS Presentation</dc:subject>
  <dc:creator>PptxGenJS</dc:creator>
  <cp:lastModifiedBy>PptxGenJS</cp:lastModifiedBy>
  <cp:revision>1</cp:revision>
  <dcterms:created xsi:type="dcterms:W3CDTF">2026-03-06T04:48:48Z</dcterms:created>
  <dcterms:modified xsi:type="dcterms:W3CDTF">2026-03-06T04:48:48Z</dcterms:modified>
</cp:coreProperties>
</file>